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55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61" r:id="rId8"/>
    <p:sldId id="275" r:id="rId9"/>
    <p:sldId id="263" r:id="rId10"/>
    <p:sldId id="264" r:id="rId11"/>
    <p:sldId id="265" r:id="rId12"/>
    <p:sldId id="280" r:id="rId13"/>
    <p:sldId id="271" r:id="rId14"/>
    <p:sldId id="276" r:id="rId15"/>
    <p:sldId id="279" r:id="rId16"/>
    <p:sldId id="278" r:id="rId17"/>
    <p:sldId id="277" r:id="rId18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gKqNwx2f7Dk6I9gNyClwAJU1JU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C547904-70A2-445F-902E-44058FB06046}">
  <a:tblStyle styleId="{9C547904-70A2-445F-902E-44058FB0604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F1F5"/>
          </a:solidFill>
        </a:fill>
      </a:tcStyle>
    </a:wholeTbl>
    <a:band1H>
      <a:tcTxStyle b="off" i="off"/>
      <a:tcStyle>
        <a:tcBdr/>
        <a:fill>
          <a:solidFill>
            <a:srgbClr val="CEE2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EE2EA"/>
          </a:solidFill>
        </a:fill>
      </a:tcStyle>
    </a:band1V>
    <a:band2V>
      <a:tcTxStyle b="off" i="off"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E8F1F5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/>
      <a:tcStyle>
        <a:tcBdr/>
        <a:fill>
          <a:solidFill>
            <a:srgbClr val="E8F1F5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7F3DBE64-AF62-4781-B024-5C99104E8F3C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7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 /><Relationship Id="rId13" Type="http://schemas.openxmlformats.org/officeDocument/2006/relationships/slide" Target="slides/slide11.xml" /><Relationship Id="rId18" Type="http://schemas.openxmlformats.org/officeDocument/2006/relationships/slide" Target="slides/slide16.xml" /><Relationship Id="rId26" Type="http://schemas.openxmlformats.org/officeDocument/2006/relationships/theme" Target="theme/theme1.xml" /><Relationship Id="rId3" Type="http://schemas.openxmlformats.org/officeDocument/2006/relationships/slide" Target="slides/slide1.xml" /><Relationship Id="rId7" Type="http://schemas.openxmlformats.org/officeDocument/2006/relationships/slide" Target="slides/slide5.xml" /><Relationship Id="rId12" Type="http://schemas.openxmlformats.org/officeDocument/2006/relationships/slide" Target="slides/slide10.xml" /><Relationship Id="rId17" Type="http://schemas.openxmlformats.org/officeDocument/2006/relationships/slide" Target="slides/slide15.xml" /><Relationship Id="rId25" Type="http://schemas.openxmlformats.org/officeDocument/2006/relationships/viewProps" Target="viewProps.xml" /><Relationship Id="rId2" Type="http://schemas.openxmlformats.org/officeDocument/2006/relationships/slideMaster" Target="slideMasters/slideMaster2.xml" /><Relationship Id="rId16" Type="http://schemas.openxmlformats.org/officeDocument/2006/relationships/slide" Target="slides/slide14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4.xml" /><Relationship Id="rId11" Type="http://schemas.openxmlformats.org/officeDocument/2006/relationships/slide" Target="slides/slide9.xml" /><Relationship Id="rId24" Type="http://schemas.openxmlformats.org/officeDocument/2006/relationships/presProps" Target="presProps.xml" /><Relationship Id="rId5" Type="http://schemas.openxmlformats.org/officeDocument/2006/relationships/slide" Target="slides/slide3.xml" /><Relationship Id="rId15" Type="http://schemas.openxmlformats.org/officeDocument/2006/relationships/slide" Target="slides/slide13.xml" /><Relationship Id="rId23" Type="http://customschemas.google.com/relationships/presentationmetadata" Target="metadata" /><Relationship Id="rId10" Type="http://schemas.openxmlformats.org/officeDocument/2006/relationships/slide" Target="slides/slide8.xml" /><Relationship Id="rId19" Type="http://schemas.openxmlformats.org/officeDocument/2006/relationships/notesMaster" Target="notesMasters/notesMaster1.xml" /><Relationship Id="rId4" Type="http://schemas.openxmlformats.org/officeDocument/2006/relationships/slide" Target="slides/slide2.xml" /><Relationship Id="rId9" Type="http://schemas.openxmlformats.org/officeDocument/2006/relationships/slide" Target="slides/slide7.xml" /><Relationship Id="rId14" Type="http://schemas.openxmlformats.org/officeDocument/2006/relationships/slide" Target="slides/slide12.xml" /><Relationship Id="rId27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e5054b97e_3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5" name="Google Shape;85;g3be5054b97e_3_4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g3be5054b97e_3_40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e5054b97e_3_5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8" name="Google Shape;98;g3be5054b97e_3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e5054b97e_3_6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7" name="Google Shape;107;g3be5054b97e_3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e5054b97e_3_7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7" name="Google Shape;117;g3be5054b97e_3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e5054b97e_3_78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g3be5054b97e_3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e5054b97e_1_2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" name="Google Shape;134;g3be5054b97e_1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>
          <a:extLst>
            <a:ext uri="{FF2B5EF4-FFF2-40B4-BE49-F238E27FC236}">
              <a16:creationId xmlns:a16="http://schemas.microsoft.com/office/drawing/2014/main" id="{CE78219B-4F21-D680-F90E-30DEB9AA2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e5054b97e_1_24:notes">
            <a:extLst>
              <a:ext uri="{FF2B5EF4-FFF2-40B4-BE49-F238E27FC236}">
                <a16:creationId xmlns:a16="http://schemas.microsoft.com/office/drawing/2014/main" id="{07309AD0-27E1-2942-CE11-84EB5A5EF55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4" name="Google Shape;134;g3be5054b97e_1_24:notes">
            <a:extLst>
              <a:ext uri="{FF2B5EF4-FFF2-40B4-BE49-F238E27FC236}">
                <a16:creationId xmlns:a16="http://schemas.microsoft.com/office/drawing/2014/main" id="{8D3803F2-6DDF-08AA-14FD-DE16061FAA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97903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e5054b97e_3_10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3" name="Google Shape;153;g3be5054b97e_3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e5054b97e_3_12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3" name="Google Shape;163;g3be5054b97e_3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e5054b97e_1_1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g3be5054b97e_1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CF96C514-54E9-F881-EB30-0F564C6BE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e5054b97e_1_16:notes">
            <a:extLst>
              <a:ext uri="{FF2B5EF4-FFF2-40B4-BE49-F238E27FC236}">
                <a16:creationId xmlns:a16="http://schemas.microsoft.com/office/drawing/2014/main" id="{6BA53E5C-507A-B9D6-58C2-2C34FF7956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g3be5054b97e_1_16:notes">
            <a:extLst>
              <a:ext uri="{FF2B5EF4-FFF2-40B4-BE49-F238E27FC236}">
                <a16:creationId xmlns:a16="http://schemas.microsoft.com/office/drawing/2014/main" id="{B872F2D9-CACF-C0DD-99BB-E7A6E3B2EA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00191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EC4AEDA4-0D23-9B1F-98E9-CB0F393C5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e5054b97e_1_16:notes">
            <a:extLst>
              <a:ext uri="{FF2B5EF4-FFF2-40B4-BE49-F238E27FC236}">
                <a16:creationId xmlns:a16="http://schemas.microsoft.com/office/drawing/2014/main" id="{08665C32-B51A-3A19-A827-6D0536FD81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g3be5054b97e_1_16:notes">
            <a:extLst>
              <a:ext uri="{FF2B5EF4-FFF2-40B4-BE49-F238E27FC236}">
                <a16:creationId xmlns:a16="http://schemas.microsoft.com/office/drawing/2014/main" id="{EE1F9A3F-ED24-F513-B139-BA2FBE3A2DD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453404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40F712A1-FC9A-BA5A-01E0-9C2B508B50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e5054b97e_1_16:notes">
            <a:extLst>
              <a:ext uri="{FF2B5EF4-FFF2-40B4-BE49-F238E27FC236}">
                <a16:creationId xmlns:a16="http://schemas.microsoft.com/office/drawing/2014/main" id="{E9F07F8E-23B5-561E-4EE5-200A9DB35F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g3be5054b97e_1_16:notes">
            <a:extLst>
              <a:ext uri="{FF2B5EF4-FFF2-40B4-BE49-F238E27FC236}">
                <a16:creationId xmlns:a16="http://schemas.microsoft.com/office/drawing/2014/main" id="{9F04A269-37E2-8536-2156-47FFE6E230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6401894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B44B9FCD-AB3A-5FF7-135B-B4098B7DA2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e5054b97e_1_16:notes">
            <a:extLst>
              <a:ext uri="{FF2B5EF4-FFF2-40B4-BE49-F238E27FC236}">
                <a16:creationId xmlns:a16="http://schemas.microsoft.com/office/drawing/2014/main" id="{8BC8D27A-8EBA-7BBD-F357-61937F5B2A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g3be5054b97e_1_16:notes">
            <a:extLst>
              <a:ext uri="{FF2B5EF4-FFF2-40B4-BE49-F238E27FC236}">
                <a16:creationId xmlns:a16="http://schemas.microsoft.com/office/drawing/2014/main" id="{E42614DE-82C4-9F70-6A47-27A58E4980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102131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53AAE23F-2706-4A7D-BD75-4004F84948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e5054b97e_1_16:notes">
            <a:extLst>
              <a:ext uri="{FF2B5EF4-FFF2-40B4-BE49-F238E27FC236}">
                <a16:creationId xmlns:a16="http://schemas.microsoft.com/office/drawing/2014/main" id="{51554ECB-731D-8453-5E82-31F91F24DF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g3be5054b97e_1_16:notes">
            <a:extLst>
              <a:ext uri="{FF2B5EF4-FFF2-40B4-BE49-F238E27FC236}">
                <a16:creationId xmlns:a16="http://schemas.microsoft.com/office/drawing/2014/main" id="{2D4B6C6D-9B29-97A1-EB55-F42CE61EA2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570947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>
          <a:extLst>
            <a:ext uri="{FF2B5EF4-FFF2-40B4-BE49-F238E27FC236}">
              <a16:creationId xmlns:a16="http://schemas.microsoft.com/office/drawing/2014/main" id="{429256A1-4992-F42B-B246-6C88BBFCC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be5054b97e_1_16:notes">
            <a:extLst>
              <a:ext uri="{FF2B5EF4-FFF2-40B4-BE49-F238E27FC236}">
                <a16:creationId xmlns:a16="http://schemas.microsoft.com/office/drawing/2014/main" id="{C015393E-604E-EB34-ACF0-60E144FC1C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g3be5054b97e_1_16:notes">
            <a:extLst>
              <a:ext uri="{FF2B5EF4-FFF2-40B4-BE49-F238E27FC236}">
                <a16:creationId xmlns:a16="http://schemas.microsoft.com/office/drawing/2014/main" id="{A91C285F-10C2-5DA9-6951-8F77D0C924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282783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be5054b97e_3_6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g3be5054b97e_3_6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Calibri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g3be5054b97e_3_6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3be5054b97e_3_6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g3be5054b97e_3_6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-3810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-3810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-3810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-3810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-3810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-3810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-3810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-3810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-3810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-3810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be5054b97e_3_12"/>
          <p:cNvSpPr txBox="1">
            <a:spLocks noGrp="1"/>
          </p:cNvSpPr>
          <p:nvPr>
            <p:ph type="title"/>
          </p:nvPr>
        </p:nvSpPr>
        <p:spPr>
          <a:xfrm>
            <a:off x="2374905" y="250733"/>
            <a:ext cx="7361555" cy="8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3be5054b97e_3_1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g3be5054b97e_3_1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g3be5054b97e_3_12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be5054b97e_3_17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g3be5054b97e_3_17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g3be5054b97e_3_17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g3be5054b97e_3_21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g3be5054b97e_3_21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g3be5054b97e_3_2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g3be5054b97e_3_2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g3be5054b97e_3_21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be5054b97e_3_27"/>
          <p:cNvSpPr txBox="1">
            <a:spLocks noGrp="1"/>
          </p:cNvSpPr>
          <p:nvPr>
            <p:ph type="title"/>
          </p:nvPr>
        </p:nvSpPr>
        <p:spPr>
          <a:xfrm>
            <a:off x="2374905" y="250733"/>
            <a:ext cx="7361555" cy="8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g3be5054b97e_3_27"/>
          <p:cNvSpPr txBox="1">
            <a:spLocks noGrp="1"/>
          </p:cNvSpPr>
          <p:nvPr>
            <p:ph type="body" idx="1"/>
          </p:nvPr>
        </p:nvSpPr>
        <p:spPr>
          <a:xfrm>
            <a:off x="1810175" y="1548430"/>
            <a:ext cx="8964930" cy="3247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g3be5054b97e_3_27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g3be5054b97e_3_27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g3be5054b97e_3_27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be5054b97e_3_33"/>
          <p:cNvSpPr txBox="1">
            <a:spLocks noGrp="1"/>
          </p:cNvSpPr>
          <p:nvPr>
            <p:ph type="title"/>
          </p:nvPr>
        </p:nvSpPr>
        <p:spPr>
          <a:xfrm>
            <a:off x="2374905" y="250733"/>
            <a:ext cx="7361555" cy="8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g3be5054b97e_3_33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g3be5054b97e_3_33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g3be5054b97e_3_3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g3be5054b97e_3_3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g3be5054b97e_3_33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0"/>
          <p:cNvSpPr txBox="1">
            <a:spLocks noGrp="1"/>
          </p:cNvSpPr>
          <p:nvPr>
            <p:ph type="title"/>
          </p:nvPr>
        </p:nvSpPr>
        <p:spPr>
          <a:xfrm>
            <a:off x="2374905" y="250733"/>
            <a:ext cx="7361555" cy="8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9"/>
          <p:cNvSpPr txBox="1">
            <a:spLocks noGrp="1"/>
          </p:cNvSpPr>
          <p:nvPr>
            <p:ph type="title"/>
          </p:nvPr>
        </p:nvSpPr>
        <p:spPr>
          <a:xfrm>
            <a:off x="2374905" y="250733"/>
            <a:ext cx="7361555" cy="8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9"/>
          <p:cNvSpPr txBox="1">
            <a:spLocks noGrp="1"/>
          </p:cNvSpPr>
          <p:nvPr>
            <p:ph type="body" idx="1"/>
          </p:nvPr>
        </p:nvSpPr>
        <p:spPr>
          <a:xfrm>
            <a:off x="1810175" y="1548430"/>
            <a:ext cx="8964930" cy="3247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9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9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2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2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3"/>
          <p:cNvSpPr txBox="1">
            <a:spLocks noGrp="1"/>
          </p:cNvSpPr>
          <p:nvPr>
            <p:ph type="title"/>
          </p:nvPr>
        </p:nvSpPr>
        <p:spPr>
          <a:xfrm>
            <a:off x="2374905" y="250733"/>
            <a:ext cx="7361555" cy="8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3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 /><Relationship Id="rId7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5" Type="http://schemas.openxmlformats.org/officeDocument/2006/relationships/slideLayout" Target="../slideLayouts/slideLayout5.xml" /><Relationship Id="rId4" Type="http://schemas.openxmlformats.org/officeDocument/2006/relationships/slideLayout" Target="../slideLayouts/slideLayout4.xml" 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 /><Relationship Id="rId2" Type="http://schemas.openxmlformats.org/officeDocument/2006/relationships/slideLayout" Target="../slideLayouts/slideLayout8.xml" /><Relationship Id="rId1" Type="http://schemas.openxmlformats.org/officeDocument/2006/relationships/slideLayout" Target="../slideLayouts/slideLayout7.xml" /><Relationship Id="rId5" Type="http://schemas.openxmlformats.org/officeDocument/2006/relationships/theme" Target="../theme/theme2.xml" /><Relationship Id="rId4" Type="http://schemas.openxmlformats.org/officeDocument/2006/relationships/slideLayout" Target="../slideLayouts/slideLayout10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be5054b97e_3_0"/>
          <p:cNvSpPr txBox="1">
            <a:spLocks noGrp="1"/>
          </p:cNvSpPr>
          <p:nvPr>
            <p:ph type="title"/>
          </p:nvPr>
        </p:nvSpPr>
        <p:spPr>
          <a:xfrm>
            <a:off x="2374905" y="250733"/>
            <a:ext cx="7361555" cy="8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g3be5054b97e_3_0"/>
          <p:cNvSpPr txBox="1">
            <a:spLocks noGrp="1"/>
          </p:cNvSpPr>
          <p:nvPr>
            <p:ph type="body" idx="1"/>
          </p:nvPr>
        </p:nvSpPr>
        <p:spPr>
          <a:xfrm>
            <a:off x="1810175" y="1548430"/>
            <a:ext cx="8964930" cy="3247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g3be5054b97e_3_0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g3be5054b97e_3_0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g3be5054b97e_3_0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8"/>
          <p:cNvSpPr txBox="1">
            <a:spLocks noGrp="1"/>
          </p:cNvSpPr>
          <p:nvPr>
            <p:ph type="title"/>
          </p:nvPr>
        </p:nvSpPr>
        <p:spPr>
          <a:xfrm>
            <a:off x="2374905" y="250733"/>
            <a:ext cx="7361555" cy="89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18"/>
          <p:cNvSpPr txBox="1">
            <a:spLocks noGrp="1"/>
          </p:cNvSpPr>
          <p:nvPr>
            <p:ph type="body" idx="1"/>
          </p:nvPr>
        </p:nvSpPr>
        <p:spPr>
          <a:xfrm>
            <a:off x="1810175" y="1548430"/>
            <a:ext cx="8964930" cy="32473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8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8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8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3810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3810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8" r:id="rId2"/>
    <p:sldLayoutId id="2147483659" r:id="rId3"/>
    <p:sldLayoutId id="2147483660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.jpg" 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4.jpg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5.png" /><Relationship Id="rId4" Type="http://schemas.openxmlformats.org/officeDocument/2006/relationships/image" Target="../media/image4.jpg" 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4.jpg" 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4.jpg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6.png" /><Relationship Id="rId4" Type="http://schemas.openxmlformats.org/officeDocument/2006/relationships/image" Target="../media/image4.jp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7.png" /><Relationship Id="rId4" Type="http://schemas.openxmlformats.org/officeDocument/2006/relationships/image" Target="../media/image4.jp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8.png" /><Relationship Id="rId4" Type="http://schemas.openxmlformats.org/officeDocument/2006/relationships/image" Target="../media/image4.jpg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9.png" /><Relationship Id="rId4" Type="http://schemas.openxmlformats.org/officeDocument/2006/relationships/image" Target="../media/image4.jpg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10.png" /><Relationship Id="rId4" Type="http://schemas.openxmlformats.org/officeDocument/2006/relationships/image" Target="../media/image4.jp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11.png" /><Relationship Id="rId4" Type="http://schemas.openxmlformats.org/officeDocument/2006/relationships/image" Target="../media/image4.jp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13.png" /><Relationship Id="rId5" Type="http://schemas.openxmlformats.org/officeDocument/2006/relationships/image" Target="../media/image12.png" /><Relationship Id="rId4" Type="http://schemas.openxmlformats.org/officeDocument/2006/relationships/image" Target="../media/image4.jpg" 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4.jpg" 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7.xml" /><Relationship Id="rId5" Type="http://schemas.openxmlformats.org/officeDocument/2006/relationships/image" Target="../media/image14.png" /><Relationship Id="rId4" Type="http://schemas.openxmlformats.org/officeDocument/2006/relationships/image" Target="../media/image4.jpg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4.jpg" 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 /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4.jp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e5054b97e_3_40"/>
          <p:cNvSpPr txBox="1">
            <a:spLocks noGrp="1"/>
          </p:cNvSpPr>
          <p:nvPr>
            <p:ph type="ctrTitle"/>
          </p:nvPr>
        </p:nvSpPr>
        <p:spPr>
          <a:xfrm>
            <a:off x="924910" y="2313159"/>
            <a:ext cx="10482366" cy="2077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algn="ctr"/>
            <a:r>
              <a:rPr lang="en-US" sz="4000" dirty="0">
                <a:solidFill>
                  <a:schemeClr val="tx1"/>
                </a:solidFill>
              </a:rPr>
              <a:t>Intelligent Food Redistribution and Waste Reduction Network</a:t>
            </a:r>
            <a:br>
              <a:rPr lang="en-IN" sz="4400" dirty="0">
                <a:solidFill>
                  <a:schemeClr val="tx1"/>
                </a:solidFill>
              </a:rPr>
            </a:br>
            <a:endParaRPr lang="en-IN" sz="4400" dirty="0">
              <a:solidFill>
                <a:schemeClr val="tx1"/>
              </a:solidFill>
            </a:endParaRPr>
          </a:p>
        </p:txBody>
      </p:sp>
      <p:pic>
        <p:nvPicPr>
          <p:cNvPr id="89" name="Google Shape;89;g3be5054b97e_3_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g3be5054b97e_3_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be5054b97e_3_40"/>
          <p:cNvSpPr txBox="1"/>
          <p:nvPr/>
        </p:nvSpPr>
        <p:spPr>
          <a:xfrm>
            <a:off x="3441900" y="335165"/>
            <a:ext cx="5308200" cy="14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SIMATS ENGINEERING</a:t>
            </a:r>
            <a:endParaRPr sz="2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70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"/>
              <a:buFont typeface="Arial"/>
              <a:buNone/>
            </a:pPr>
            <a:endParaRPr sz="3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158240" marR="5080" lvl="0" indent="-11461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SAVEETHA INSTITUTE OF MEDICAL AND TECHNICAL SCIENCES</a:t>
            </a: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endParaRPr sz="28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g3be5054b97e_3_40"/>
          <p:cNvSpPr txBox="1"/>
          <p:nvPr/>
        </p:nvSpPr>
        <p:spPr>
          <a:xfrm>
            <a:off x="7610475" y="4974528"/>
            <a:ext cx="4220375" cy="1342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Mandem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Nandhini-192425069</a:t>
            </a:r>
          </a:p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Gadiputikotla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Vyshnavi - 192472318</a:t>
            </a:r>
          </a:p>
          <a:p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Mallike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Reddy Jayasree- 192325140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Monika G- 192421158 </a:t>
            </a:r>
          </a:p>
        </p:txBody>
      </p:sp>
      <p:sp>
        <p:nvSpPr>
          <p:cNvPr id="93" name="Google Shape;93;g3be5054b97e_3_40"/>
          <p:cNvSpPr txBox="1"/>
          <p:nvPr/>
        </p:nvSpPr>
        <p:spPr>
          <a:xfrm>
            <a:off x="-2" y="5514600"/>
            <a:ext cx="4927800" cy="7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Times New Roman"/>
              <a:buNone/>
            </a:pPr>
            <a:r>
              <a:rPr lang="en-US" sz="2000" b="1" i="0" u="none" strike="noStrike" cap="none" dirty="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Course</a:t>
            </a:r>
            <a:r>
              <a:rPr lang="en-US" sz="2000" b="1" i="0" u="none" strike="noStrike" cap="none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18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9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CSA0903- Programming in Java </a:t>
            </a:r>
            <a:r>
              <a:rPr lang="en-US" sz="180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80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" name="Google Shape;94;g3be5054b97e_3_40"/>
          <p:cNvSpPr txBox="1"/>
          <p:nvPr/>
        </p:nvSpPr>
        <p:spPr>
          <a:xfrm>
            <a:off x="281350" y="4572000"/>
            <a:ext cx="2970900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endParaRPr sz="20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lnSpc>
                <a:spcPct val="115000"/>
              </a:lnSpc>
              <a:buSzPts val="2000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Magesh Kumar 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g3be5054b97e_3_40"/>
          <p:cNvSpPr txBox="1"/>
          <p:nvPr/>
        </p:nvSpPr>
        <p:spPr>
          <a:xfrm>
            <a:off x="7177550" y="4390646"/>
            <a:ext cx="2024400" cy="4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</a:t>
            </a:r>
            <a:r>
              <a:rPr lang="en-US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en-US" sz="2000" b="1" i="0" u="none" strike="noStrike" cap="none" dirty="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 b="1" i="0" u="none" strike="noStrike" cap="none" dirty="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e5054b97e_3_53"/>
          <p:cNvSpPr txBox="1">
            <a:spLocks noGrp="1"/>
          </p:cNvSpPr>
          <p:nvPr>
            <p:ph type="title"/>
          </p:nvPr>
        </p:nvSpPr>
        <p:spPr>
          <a:xfrm>
            <a:off x="1465035" y="232445"/>
            <a:ext cx="78315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5700" rIns="0" bIns="0" anchor="t" anchorCtr="0">
            <a:spAutoFit/>
          </a:bodyPr>
          <a:lstStyle/>
          <a:p>
            <a:pPr marL="136715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solidFill>
                  <a:srgbClr val="92D050"/>
                </a:solidFill>
              </a:rPr>
              <a:t>ABSTRACT</a:t>
            </a:r>
            <a:endParaRPr dirty="0">
              <a:solidFill>
                <a:srgbClr val="92D050"/>
              </a:solidFill>
            </a:endParaRPr>
          </a:p>
        </p:txBody>
      </p:sp>
      <p:pic>
        <p:nvPicPr>
          <p:cNvPr id="101" name="Google Shape;101;g3be5054b97e_3_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9920" y="173338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g3be5054b97e_3_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86799" y="173338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g3be5054b97e_3_53"/>
          <p:cNvSpPr txBox="1">
            <a:spLocks noGrp="1"/>
          </p:cNvSpPr>
          <p:nvPr>
            <p:ph type="sldNum" idx="12"/>
          </p:nvPr>
        </p:nvSpPr>
        <p:spPr>
          <a:xfrm>
            <a:off x="11276659" y="6467792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104" name="Google Shape;104;g3be5054b97e_3_53"/>
          <p:cNvSpPr txBox="1"/>
          <p:nvPr/>
        </p:nvSpPr>
        <p:spPr>
          <a:xfrm>
            <a:off x="621067" y="1743063"/>
            <a:ext cx="10738200" cy="44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445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Food waste and food insecurity are major challenges that require an efficient and sustainable redistribution system.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45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proposed platform connects donors, NGOs, and volunteers to streamline the collection and distribution of extra food.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45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Built using Java Spring Boot and MySQL, the system provides secure user management and real-time food donation tracking.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45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resource allocation helps ensure that donated food reaches the right recipients quickly and efficiently.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445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platform aims to reduce food waste, improve food accessibility, and support sustainable community welfare.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be5054b97e_3_61"/>
          <p:cNvSpPr txBox="1">
            <a:spLocks noGrp="1"/>
          </p:cNvSpPr>
          <p:nvPr>
            <p:ph type="title"/>
          </p:nvPr>
        </p:nvSpPr>
        <p:spPr>
          <a:xfrm>
            <a:off x="1465035" y="232445"/>
            <a:ext cx="83649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5700" rIns="0" bIns="0" anchor="t" anchorCtr="0">
            <a:spAutoFit/>
          </a:bodyPr>
          <a:lstStyle/>
          <a:p>
            <a:pPr marL="136715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solidFill>
                  <a:schemeClr val="accent3"/>
                </a:solidFill>
              </a:rPr>
              <a:t>INTRODUCTION</a:t>
            </a:r>
            <a:endParaRPr dirty="0">
              <a:solidFill>
                <a:schemeClr val="accent3"/>
              </a:solidFill>
            </a:endParaRPr>
          </a:p>
        </p:txBody>
      </p:sp>
      <p:pic>
        <p:nvPicPr>
          <p:cNvPr id="110" name="Google Shape;110;g3be5054b97e_3_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9920" y="173338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3be5054b97e_3_6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86799" y="173338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g3be5054b97e_3_61"/>
          <p:cNvSpPr txBox="1">
            <a:spLocks noGrp="1"/>
          </p:cNvSpPr>
          <p:nvPr>
            <p:ph type="sldNum" idx="12"/>
          </p:nvPr>
        </p:nvSpPr>
        <p:spPr>
          <a:xfrm>
            <a:off x="11276659" y="6467792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113" name="Google Shape;113;g3be5054b97e_3_61"/>
          <p:cNvSpPr/>
          <p:nvPr/>
        </p:nvSpPr>
        <p:spPr>
          <a:xfrm>
            <a:off x="144723" y="1751377"/>
            <a:ext cx="7467600" cy="465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Food waste is a major problem, while many people still face food shortages.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Restaurants, supermarkets, and events often have extra food that gets wasted.</a:t>
            </a: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no efficient system to quickly connect food donors with NGOs and shelters.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project provides a platform to collect, manage, and redistribute extra food efficiently.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helps reduce food waste, supports people in need, and promotes sustainable food distribution.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4" name="Google Shape;114;g3be5054b97e_3_61" title="ChatGPT Image Aug 2, 2026, 11_48_16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10760" y="1816866"/>
            <a:ext cx="4089670" cy="4089670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e5054b97e_3_70"/>
          <p:cNvSpPr txBox="1">
            <a:spLocks noGrp="1"/>
          </p:cNvSpPr>
          <p:nvPr>
            <p:ph type="title"/>
          </p:nvPr>
        </p:nvSpPr>
        <p:spPr>
          <a:xfrm>
            <a:off x="1306285" y="173345"/>
            <a:ext cx="83649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5700" rIns="0" bIns="0" anchor="t" anchorCtr="0">
            <a:spAutoFit/>
          </a:bodyPr>
          <a:lstStyle/>
          <a:p>
            <a:pPr marL="1367155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 dirty="0">
              <a:solidFill>
                <a:schemeClr val="accent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0" name="Google Shape;120;g3be5054b97e_3_7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9920" y="173338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3be5054b97e_3_7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86799" y="173338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be5054b97e_3_70"/>
          <p:cNvSpPr txBox="1">
            <a:spLocks noGrp="1"/>
          </p:cNvSpPr>
          <p:nvPr>
            <p:ph type="sldNum" idx="12"/>
          </p:nvPr>
        </p:nvSpPr>
        <p:spPr>
          <a:xfrm>
            <a:off x="11276659" y="6467792"/>
            <a:ext cx="205104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3" name="Google Shape;123;g3be5054b97e_3_70"/>
          <p:cNvGraphicFramePr/>
          <p:nvPr>
            <p:extLst>
              <p:ext uri="{D42A27DB-BD31-4B8C-83A1-F6EECF244321}">
                <p14:modId xmlns:p14="http://schemas.microsoft.com/office/powerpoint/2010/main" val="1602630247"/>
              </p:ext>
            </p:extLst>
          </p:nvPr>
        </p:nvGraphicFramePr>
        <p:xfrm>
          <a:off x="924910" y="1745064"/>
          <a:ext cx="10353625" cy="4693950"/>
        </p:xfrm>
        <a:graphic>
          <a:graphicData uri="http://schemas.openxmlformats.org/drawingml/2006/table">
            <a:tbl>
              <a:tblPr>
                <a:noFill/>
                <a:tableStyleId>{9C547904-70A2-445F-902E-44058FB06046}</a:tableStyleId>
              </a:tblPr>
              <a:tblGrid>
                <a:gridCol w="3520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3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7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Objective</a:t>
                      </a:r>
                      <a:endParaRPr sz="20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Explanation</a:t>
                      </a:r>
                      <a:endParaRPr sz="20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Reduce Food Wastage </a:t>
                      </a:r>
                      <a:endParaRPr sz="1800" b="1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Minimize the disposal of extra food by enabling timely donations. 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Connect Donors and NGOs </a:t>
                      </a:r>
                      <a:endParaRPr sz="18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Provide a platform that links food donors with nearby NGOs and shelters. 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7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Optimize Food Distribution </a:t>
                      </a:r>
                      <a:endParaRPr sz="18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Ensure donated food is allocated efficiently to the right recipients. 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Manage Volunteer Activities </a:t>
                      </a:r>
                      <a:endParaRPr sz="18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Help volunteers accept, collect, and deliver food donations on time. </a:t>
                      </a:r>
                      <a:endParaRPr sz="180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86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b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Promote Sustainable Food Sharing </a:t>
                      </a:r>
                      <a:endParaRPr sz="1800" b="1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/>
                        <a:buNone/>
                      </a:pPr>
                      <a:r>
                        <a:rPr lang="en-US" sz="18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Encourage responsible food redistribution to support communities and reduce waste. </a:t>
                      </a:r>
                      <a:endParaRPr sz="1800" b="0" u="none" strike="noStrike" cap="none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0" marB="0" anchor="ctr">
                    <a:lnL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be5054b97e_3_78"/>
          <p:cNvSpPr txBox="1">
            <a:spLocks noGrp="1"/>
          </p:cNvSpPr>
          <p:nvPr>
            <p:ph type="title"/>
          </p:nvPr>
        </p:nvSpPr>
        <p:spPr>
          <a:xfrm>
            <a:off x="2347473" y="232445"/>
            <a:ext cx="73617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5700" rIns="0" bIns="0" anchor="t" anchorCtr="0">
            <a:spAutoFit/>
          </a:bodyPr>
          <a:lstStyle/>
          <a:p>
            <a:pPr marL="13671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solidFill>
                  <a:schemeClr val="accent3"/>
                </a:solidFill>
              </a:rPr>
              <a:t>LITERATURE SURVEY</a:t>
            </a:r>
            <a:endParaRPr dirty="0">
              <a:solidFill>
                <a:schemeClr val="accent3"/>
              </a:solidFill>
            </a:endParaRPr>
          </a:p>
        </p:txBody>
      </p:sp>
      <p:pic>
        <p:nvPicPr>
          <p:cNvPr id="129" name="Google Shape;129;g3be5054b97e_3_7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9920" y="173338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g3be5054b97e_3_7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86799" y="173338"/>
            <a:ext cx="1520112" cy="134288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1" name="Google Shape;131;g3be5054b97e_3_78"/>
          <p:cNvGraphicFramePr/>
          <p:nvPr>
            <p:extLst>
              <p:ext uri="{D42A27DB-BD31-4B8C-83A1-F6EECF244321}">
                <p14:modId xmlns:p14="http://schemas.microsoft.com/office/powerpoint/2010/main" val="3238866144"/>
              </p:ext>
            </p:extLst>
          </p:nvPr>
        </p:nvGraphicFramePr>
        <p:xfrm>
          <a:off x="271475" y="1620838"/>
          <a:ext cx="11706225" cy="5160783"/>
        </p:xfrm>
        <a:graphic>
          <a:graphicData uri="http://schemas.openxmlformats.org/drawingml/2006/table">
            <a:tbl>
              <a:tblPr>
                <a:noFill/>
                <a:tableStyleId>{7F3DBE64-AF62-4781-B024-5C99104E8F3C}</a:tableStyleId>
              </a:tblPr>
              <a:tblGrid>
                <a:gridCol w="731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2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9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6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860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S.No</a:t>
                      </a:r>
                      <a:endParaRPr b="1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Author</a:t>
                      </a:r>
                      <a:endParaRPr b="1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Paper Title</a:t>
                      </a:r>
                      <a:endParaRPr b="1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Methodology / Algorithm</a:t>
                      </a:r>
                      <a:endParaRPr b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1" dirty="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Limitation</a:t>
                      </a:r>
                      <a:endParaRPr b="1" dirty="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Rahul Srinivas Sucharitha, Seokcheon Lee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Two-Stage Hybrid Demand Estimation via Clustering for Food Banks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Gaussian Mixture Model (GMM) and Clustering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Performance depends on quality of historical demand data.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Reihaneh Ghoniem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Multi-Start Optimization-Based Heuristic for a Food Bank Distribution Problem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Multi-start Heuristic and Neighborhood Search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guarantee of global optimal solution.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Nistha Dubey, Ajinkya Tanksale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Multi-Depot Vehicle Routing Problem with Time Windows, Split Pickup and Split Delivery for Surplus Food Recovery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Multi-Depot Vehicle Routing Problem (MDVRP)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High routing complexity for large transportation networks.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Divya J. Nair, David Rey, Vinayak V. Dixit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Scheduling and Routing Models for Food Rescue and Delivery Operations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Vehicle Routing and Scheduling Optimization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Assumes static transportation conditions.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Zheyuan Ryan Shi, Yiwen Yuan, Kimberly Lo, Leah Lizarondo, Fei Fang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Improving Efficiency of Volunteer-Based Food Rescue Operations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Reinforcement Learning with Volunteer Assignment</a:t>
                      </a:r>
                      <a:endParaRPr sz="15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Requires sufficient volunteer activity data.</a:t>
                      </a:r>
                      <a:endParaRPr sz="15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e5054b97e_1_24"/>
          <p:cNvSpPr txBox="1">
            <a:spLocks noGrp="1"/>
          </p:cNvSpPr>
          <p:nvPr>
            <p:ph type="title"/>
          </p:nvPr>
        </p:nvSpPr>
        <p:spPr>
          <a:xfrm>
            <a:off x="2347473" y="232445"/>
            <a:ext cx="73617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5700" rIns="0" bIns="0" anchor="t" anchorCtr="0">
            <a:spAutoFit/>
          </a:bodyPr>
          <a:lstStyle/>
          <a:p>
            <a:pPr marL="1367155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solidFill>
                  <a:schemeClr val="accent3"/>
                </a:solidFill>
              </a:rPr>
              <a:t>PROBLEM STATEMENT</a:t>
            </a:r>
            <a:endParaRPr dirty="0">
              <a:solidFill>
                <a:schemeClr val="accent3"/>
              </a:solidFill>
            </a:endParaRPr>
          </a:p>
        </p:txBody>
      </p:sp>
      <p:pic>
        <p:nvPicPr>
          <p:cNvPr id="137" name="Google Shape;137;g3be5054b97e_1_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9920" y="173338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3be5054b97e_1_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86799" y="173338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be5054b97e_1_24"/>
          <p:cNvSpPr txBox="1">
            <a:spLocks noGrp="1"/>
          </p:cNvSpPr>
          <p:nvPr>
            <p:ph type="sldNum" idx="12"/>
          </p:nvPr>
        </p:nvSpPr>
        <p:spPr>
          <a:xfrm>
            <a:off x="11276659" y="6467792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40" name="Google Shape;140;g3be5054b97e_1_24"/>
          <p:cNvSpPr/>
          <p:nvPr/>
        </p:nvSpPr>
        <p:spPr>
          <a:xfrm flipH="1">
            <a:off x="401961" y="1912175"/>
            <a:ext cx="6897600" cy="41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lvl="0" indent="-3619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Every day, a large amount of edible food is wasted while many people suffer from hunger.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no proper platform to connect food donors, NGOs, and volunteers efficiently.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Manual coordination causes delays, poor communication, and unnecessary food wastage.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6195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en-US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efficient system is needed to collect, manage, and redistribute surplus food to those in need.</a:t>
            </a:r>
            <a:endParaRPr sz="2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1" name="Google Shape;141;g3be5054b97e_1_24" title="ChatGPT Image Aug 2, 2026, 11_52_21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93719" y="1668620"/>
            <a:ext cx="4587640" cy="4587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35">
          <a:extLst>
            <a:ext uri="{FF2B5EF4-FFF2-40B4-BE49-F238E27FC236}">
              <a16:creationId xmlns:a16="http://schemas.microsoft.com/office/drawing/2014/main" id="{CB4BD8FB-ED44-62E8-9BD2-90236673D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g3be5054b97e_1_24">
            <a:extLst>
              <a:ext uri="{FF2B5EF4-FFF2-40B4-BE49-F238E27FC236}">
                <a16:creationId xmlns:a16="http://schemas.microsoft.com/office/drawing/2014/main" id="{4B4B2975-950F-73AE-B142-1A70E1C099D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9920" y="173338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3be5054b97e_1_24">
            <a:extLst>
              <a:ext uri="{FF2B5EF4-FFF2-40B4-BE49-F238E27FC236}">
                <a16:creationId xmlns:a16="http://schemas.microsoft.com/office/drawing/2014/main" id="{B5E1FB8E-9940-CAC3-8E82-D81853B37A0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86799" y="173338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be5054b97e_1_24">
            <a:extLst>
              <a:ext uri="{FF2B5EF4-FFF2-40B4-BE49-F238E27FC236}">
                <a16:creationId xmlns:a16="http://schemas.microsoft.com/office/drawing/2014/main" id="{D0BFBC35-8DCF-759D-5768-E7D9780325D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276659" y="6467792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4" name="Google Shape;146;g3be5054b97e_3_95">
            <a:extLst>
              <a:ext uri="{FF2B5EF4-FFF2-40B4-BE49-F238E27FC236}">
                <a16:creationId xmlns:a16="http://schemas.microsoft.com/office/drawing/2014/main" id="{698C411B-8C6A-E47F-9E99-C866219610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92467" y="624604"/>
            <a:ext cx="9021764" cy="50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600" rIns="0" bIns="0" anchor="t" anchorCtr="0">
            <a:spAutoFit/>
          </a:bodyPr>
          <a:lstStyle/>
          <a:p>
            <a:pPr marL="2074545" marR="5080" lvl="0" indent="-1661160" algn="ctr" rtl="0">
              <a:lnSpc>
                <a:spcPct val="1010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solidFill>
                  <a:schemeClr val="accent3"/>
                </a:solidFill>
              </a:rPr>
              <a:t>SYSTEM ARCHITECTURE</a:t>
            </a:r>
            <a:endParaRPr dirty="0">
              <a:solidFill>
                <a:schemeClr val="accent3"/>
              </a:solidFill>
            </a:endParaRPr>
          </a:p>
        </p:txBody>
      </p:sp>
      <p:pic>
        <p:nvPicPr>
          <p:cNvPr id="6" name="Google Shape;150;g3be5054b97e_3_95" title="Architecture_Diagram.png">
            <a:extLst>
              <a:ext uri="{FF2B5EF4-FFF2-40B4-BE49-F238E27FC236}">
                <a16:creationId xmlns:a16="http://schemas.microsoft.com/office/drawing/2014/main" id="{7F2E4B1A-308F-EF8F-BE17-BF5BB11AF1F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12983" t="14057" b="10733"/>
          <a:stretch/>
        </p:blipFill>
        <p:spPr>
          <a:xfrm>
            <a:off x="963550" y="1190769"/>
            <a:ext cx="10052857" cy="5670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78206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g3be5054b97e_3_10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g3be5054b97e_3_10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g3be5054b97e_3_103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58" name="Google Shape;158;g3be5054b97e_3_103"/>
          <p:cNvSpPr txBox="1"/>
          <p:nvPr/>
        </p:nvSpPr>
        <p:spPr>
          <a:xfrm>
            <a:off x="1600200" y="304800"/>
            <a:ext cx="87630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– 1</a:t>
            </a:r>
            <a:br>
              <a:rPr lang="en-US" sz="3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dirty="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User &amp; Food Donation Management</a:t>
            </a:r>
            <a:endParaRPr sz="1400" b="0" i="0" u="none" strike="noStrike" cap="none" dirty="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g3be5054b97e_3_103"/>
          <p:cNvSpPr txBox="1"/>
          <p:nvPr/>
        </p:nvSpPr>
        <p:spPr>
          <a:xfrm>
            <a:off x="291200" y="1736297"/>
            <a:ext cx="6960900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</a:t>
            </a:r>
            <a:r>
              <a:rPr lang="en-US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To provide secure user access and efficiently manage food donation information within the platform. </a:t>
            </a:r>
            <a:endParaRPr sz="2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Points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User registration and secure login for different user roles.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Role-based access for Admin, Donor, NGO, and Volunteer.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Add, edit, and manage extra food donation details.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View and update the availability status of donated food.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Outcome</a:t>
            </a:r>
            <a:r>
              <a:rPr lang="en-US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Provides secure user access and organized management of food donations. </a:t>
            </a:r>
            <a:endParaRPr sz="2000" b="1" dirty="0">
              <a:solidFill>
                <a:srgbClr val="8064A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0" name="Google Shape;160;g3be5054b97e_3_103" title="ChatGPT Image Aug 2, 2026, 11_55_16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186075" y="1692746"/>
            <a:ext cx="4635101" cy="4635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g3be5054b97e_3_1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3be5054b97e_3_12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3be5054b97e_3_121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68" name="Google Shape;168;g3be5054b97e_3_121"/>
          <p:cNvSpPr txBox="1"/>
          <p:nvPr/>
        </p:nvSpPr>
        <p:spPr>
          <a:xfrm>
            <a:off x="1600200" y="304800"/>
            <a:ext cx="87630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– 2</a:t>
            </a:r>
            <a:br>
              <a:rPr lang="en-US" sz="3200" b="1" i="0" u="none" strike="noStrike" cap="none" dirty="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dirty="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Intelligent Resource Allocation &amp; Distribution</a:t>
            </a:r>
            <a:endParaRPr sz="1400" b="0" i="0" u="none" strike="noStrike" cap="none" dirty="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be5054b97e_3_121"/>
          <p:cNvSpPr txBox="1"/>
          <p:nvPr/>
        </p:nvSpPr>
        <p:spPr>
          <a:xfrm>
            <a:off x="291200" y="1523847"/>
            <a:ext cx="6960900" cy="5370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</a:t>
            </a:r>
            <a:r>
              <a:rPr lang="en-US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To efficiently allocate donated food to NGOs and coordinate its delivery through volunteers. </a:t>
            </a:r>
            <a:endParaRPr sz="2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Points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NGOs can request available food donations.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Intelligent allocation based on food availability and requirements.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Assign volunteers for food pickup and delivery.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Track the delivery status of each donation.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Outcome</a:t>
            </a:r>
            <a:r>
              <a:rPr lang="en-US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r>
              <a:rPr lang="en-US" sz="2000" b="1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Ensures efficient food allocation and timely distribution to the right recipients. </a:t>
            </a:r>
            <a:endParaRPr sz="2000" b="1" dirty="0">
              <a:solidFill>
                <a:srgbClr val="8064A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0" name="Google Shape;170;g3be5054b97e_3_121" title="ChatGPT Image Aug 2, 2026, 11_56_54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4500" y="1686908"/>
            <a:ext cx="4635101" cy="4635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g3be5054b97e_1_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be5054b97e_1_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be5054b97e_1_16"/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78" name="Google Shape;178;g3be5054b97e_1_16"/>
          <p:cNvSpPr txBox="1"/>
          <p:nvPr/>
        </p:nvSpPr>
        <p:spPr>
          <a:xfrm>
            <a:off x="1600200" y="304800"/>
            <a:ext cx="87630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 – 3</a:t>
            </a:r>
            <a:br>
              <a:rPr lang="en-US" sz="3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00" b="1" dirty="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Administration, Monitoring &amp; Analytics</a:t>
            </a:r>
            <a:endParaRPr sz="1400" b="0" i="0" u="none" strike="noStrike" cap="none" dirty="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g3be5054b97e_1_16"/>
          <p:cNvSpPr txBox="1"/>
          <p:nvPr/>
        </p:nvSpPr>
        <p:spPr>
          <a:xfrm>
            <a:off x="291200" y="1681437"/>
            <a:ext cx="6773700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Purpose</a:t>
            </a:r>
            <a:r>
              <a:rPr lang="en-US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To monitor system activities, manage users, and generate reports for efficient platform administration. </a:t>
            </a:r>
            <a:endParaRPr sz="2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Points</a:t>
            </a:r>
            <a:r>
              <a:rPr lang="en-US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000"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Manage users and food donation records.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Monitor donation and distribution activities.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Generate reports and platform statistics.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55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●"/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Maintain overall system performance and data.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2000" b="1" dirty="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Outcome</a:t>
            </a:r>
            <a:r>
              <a:rPr lang="en-US" sz="20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Provides centralized administration and effective monitoring of the entire platform. </a:t>
            </a:r>
            <a:endParaRPr sz="2000" b="1" dirty="0">
              <a:solidFill>
                <a:srgbClr val="8064A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0" name="Google Shape;180;g3be5054b97e_1_16" title="ChatGPT Image Aug 3, 2026, 12_04_40 A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52100" y="1692746"/>
            <a:ext cx="4635101" cy="4635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DC41709C-4F64-3FF3-B82F-363ACABE1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g3be5054b97e_1_16">
            <a:extLst>
              <a:ext uri="{FF2B5EF4-FFF2-40B4-BE49-F238E27FC236}">
                <a16:creationId xmlns:a16="http://schemas.microsoft.com/office/drawing/2014/main" id="{EF933FE9-6959-28D7-F780-6DD306DCC6C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be5054b97e_1_16">
            <a:extLst>
              <a:ext uri="{FF2B5EF4-FFF2-40B4-BE49-F238E27FC236}">
                <a16:creationId xmlns:a16="http://schemas.microsoft.com/office/drawing/2014/main" id="{91023A24-86EA-6400-05DD-30B8AA9CF3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be5054b97e_1_16">
            <a:extLst>
              <a:ext uri="{FF2B5EF4-FFF2-40B4-BE49-F238E27FC236}">
                <a16:creationId xmlns:a16="http://schemas.microsoft.com/office/drawing/2014/main" id="{D2B27BC9-2D1F-61D5-3094-DDC694CBA7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78" name="Google Shape;178;g3be5054b97e_1_16">
            <a:extLst>
              <a:ext uri="{FF2B5EF4-FFF2-40B4-BE49-F238E27FC236}">
                <a16:creationId xmlns:a16="http://schemas.microsoft.com/office/drawing/2014/main" id="{4A47E1A9-1461-2928-ED43-31B70D2271B8}"/>
              </a:ext>
            </a:extLst>
          </p:cNvPr>
          <p:cNvSpPr txBox="1"/>
          <p:nvPr/>
        </p:nvSpPr>
        <p:spPr>
          <a:xfrm>
            <a:off x="1161288" y="324478"/>
            <a:ext cx="8763000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3200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– 4 </a:t>
            </a:r>
          </a:p>
          <a:p>
            <a:pPr lvl="0" algn="ctr">
              <a:buSzPts val="3200"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 Safety &amp; Expiry Management</a:t>
            </a:r>
            <a:endParaRPr sz="1400" b="1" i="0" u="none" strike="noStrike" cap="none" dirty="0">
              <a:solidFill>
                <a:schemeClr val="accent3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79" name="Google Shape;179;g3be5054b97e_1_16">
            <a:extLst>
              <a:ext uri="{FF2B5EF4-FFF2-40B4-BE49-F238E27FC236}">
                <a16:creationId xmlns:a16="http://schemas.microsoft.com/office/drawing/2014/main" id="{CA93DB1D-2CB6-97EB-3FD5-E2DDA558271B}"/>
              </a:ext>
            </a:extLst>
          </p:cNvPr>
          <p:cNvSpPr txBox="1"/>
          <p:nvPr/>
        </p:nvSpPr>
        <p:spPr>
          <a:xfrm>
            <a:off x="291200" y="1681437"/>
            <a:ext cx="6773700" cy="5078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monitor food safety and expiry details and ensure that only safe and consumable food is redistributed.</a:t>
            </a:r>
          </a:p>
          <a:p>
            <a:pPr>
              <a:lnSpc>
                <a:spcPct val="20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Points: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Track food preparation and expiry date/time.</a:t>
            </a:r>
          </a:p>
          <a:p>
            <a:pPr>
              <a:lnSpc>
                <a:spcPct val="2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Monitor the freshness and availability status of donated food.</a:t>
            </a:r>
          </a:p>
          <a:p>
            <a:pPr>
              <a:lnSpc>
                <a:spcPct val="2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Identify and prioritize donations approaching expiry.</a:t>
            </a:r>
          </a:p>
          <a:p>
            <a:pPr>
              <a:lnSpc>
                <a:spcPct val="20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● Prevent expired food from being allocated for distribution.</a:t>
            </a:r>
          </a:p>
          <a:p>
            <a:pPr>
              <a:lnSpc>
                <a:spcPct val="200000"/>
              </a:lnSpc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safe and timely redistribution of surplus food while reducing food spoilage and wastage.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81D613-1292-9E21-9A84-C2B2AF8A8D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67144" y="2221992"/>
            <a:ext cx="5324856" cy="307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7930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83E6050C-C225-4872-6D69-CEBA412B2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g3be5054b97e_1_16">
            <a:extLst>
              <a:ext uri="{FF2B5EF4-FFF2-40B4-BE49-F238E27FC236}">
                <a16:creationId xmlns:a16="http://schemas.microsoft.com/office/drawing/2014/main" id="{6EA8EF9A-77F9-D801-FCF3-4EBD5C0E10C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be5054b97e_1_16">
            <a:extLst>
              <a:ext uri="{FF2B5EF4-FFF2-40B4-BE49-F238E27FC236}">
                <a16:creationId xmlns:a16="http://schemas.microsoft.com/office/drawing/2014/main" id="{37BDEFA9-27E3-C4A9-6C47-A29E663F174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be5054b97e_1_16">
            <a:extLst>
              <a:ext uri="{FF2B5EF4-FFF2-40B4-BE49-F238E27FC236}">
                <a16:creationId xmlns:a16="http://schemas.microsoft.com/office/drawing/2014/main" id="{3FDF459A-CB28-CB1D-54A8-78104289EB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78" name="Google Shape;178;g3be5054b97e_1_16">
            <a:extLst>
              <a:ext uri="{FF2B5EF4-FFF2-40B4-BE49-F238E27FC236}">
                <a16:creationId xmlns:a16="http://schemas.microsoft.com/office/drawing/2014/main" id="{F057FAD0-E80A-88CC-AD65-7EDD5DE24E35}"/>
              </a:ext>
            </a:extLst>
          </p:cNvPr>
          <p:cNvSpPr txBox="1"/>
          <p:nvPr/>
        </p:nvSpPr>
        <p:spPr>
          <a:xfrm>
            <a:off x="1621849" y="570699"/>
            <a:ext cx="8763000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 b="1" dirty="0">
                <a:solidFill>
                  <a:schemeClr val="accent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DASHBOARD</a:t>
            </a:r>
            <a:endParaRPr lang="en-US" sz="1400" b="0" i="0" u="none" strike="noStrike" cap="none" dirty="0">
              <a:solidFill>
                <a:schemeClr val="accent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CCBFE8-D26F-79CC-8A18-FDE0F06B2A8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986"/>
          <a:stretch>
            <a:fillRect/>
          </a:stretch>
        </p:blipFill>
        <p:spPr>
          <a:xfrm>
            <a:off x="5851284" y="3429000"/>
            <a:ext cx="6082651" cy="3045580"/>
          </a:xfrm>
          <a:prstGeom prst="rect">
            <a:avLst/>
          </a:prstGeom>
          <a:ln>
            <a:solidFill>
              <a:schemeClr val="accent3">
                <a:lumMod val="75000"/>
              </a:schemeClr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57A2073-B1B8-21CC-396B-ECFD12969E6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0056"/>
          <a:stretch>
            <a:fillRect/>
          </a:stretch>
        </p:blipFill>
        <p:spPr>
          <a:xfrm>
            <a:off x="306551" y="1704026"/>
            <a:ext cx="5395519" cy="304558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23916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A20EEC93-D128-CDB9-0A24-D5908703F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g3be5054b97e_1_16">
            <a:extLst>
              <a:ext uri="{FF2B5EF4-FFF2-40B4-BE49-F238E27FC236}">
                <a16:creationId xmlns:a16="http://schemas.microsoft.com/office/drawing/2014/main" id="{B2ED1093-C0CE-CE9A-7134-A40DC2F415E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be5054b97e_1_16">
            <a:extLst>
              <a:ext uri="{FF2B5EF4-FFF2-40B4-BE49-F238E27FC236}">
                <a16:creationId xmlns:a16="http://schemas.microsoft.com/office/drawing/2014/main" id="{D7F3D496-6772-BF8B-59A6-C22E32BA72A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be5054b97e_1_16">
            <a:extLst>
              <a:ext uri="{FF2B5EF4-FFF2-40B4-BE49-F238E27FC236}">
                <a16:creationId xmlns:a16="http://schemas.microsoft.com/office/drawing/2014/main" id="{93A71580-D5BE-F16C-5602-509BAFB7DF3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" name="Google Shape;213;g3be5054b97e_3_230">
            <a:extLst>
              <a:ext uri="{FF2B5EF4-FFF2-40B4-BE49-F238E27FC236}">
                <a16:creationId xmlns:a16="http://schemas.microsoft.com/office/drawing/2014/main" id="{6E50FD6B-644B-90EF-F50B-C3B1B66FFE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9145" y="322915"/>
            <a:ext cx="73617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5700" rIns="0" bIns="0" anchor="t" anchorCtr="0">
            <a:spAutoFit/>
          </a:bodyPr>
          <a:lstStyle/>
          <a:p>
            <a:pPr marL="235458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solidFill>
                  <a:schemeClr val="accent3"/>
                </a:solidFill>
              </a:rPr>
              <a:t>RESULTS </a:t>
            </a:r>
            <a:r>
              <a:rPr lang="en-US" dirty="0">
                <a:solidFill>
                  <a:schemeClr val="tx1"/>
                </a:solidFill>
              </a:rPr>
              <a:t>&amp;</a:t>
            </a:r>
            <a:r>
              <a:rPr lang="en-US" dirty="0">
                <a:solidFill>
                  <a:schemeClr val="accent3"/>
                </a:solidFill>
              </a:rPr>
              <a:t> DISCUSSION</a:t>
            </a:r>
          </a:p>
        </p:txBody>
      </p:sp>
      <p:sp>
        <p:nvSpPr>
          <p:cNvPr id="3" name="Google Shape;216;g3be5054b97e_3_230">
            <a:extLst>
              <a:ext uri="{FF2B5EF4-FFF2-40B4-BE49-F238E27FC236}">
                <a16:creationId xmlns:a16="http://schemas.microsoft.com/office/drawing/2014/main" id="{241E1C99-99EC-0F66-30C5-55363E7B87F3}"/>
              </a:ext>
            </a:extLst>
          </p:cNvPr>
          <p:cNvSpPr txBox="1">
            <a:spLocks/>
          </p:cNvSpPr>
          <p:nvPr/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810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Google Shape;217;g3be5054b97e_3_230">
            <a:extLst>
              <a:ext uri="{FF2B5EF4-FFF2-40B4-BE49-F238E27FC236}">
                <a16:creationId xmlns:a16="http://schemas.microsoft.com/office/drawing/2014/main" id="{D8650C80-6D8A-CF4F-D543-E429DB1E5DA9}"/>
              </a:ext>
            </a:extLst>
          </p:cNvPr>
          <p:cNvSpPr txBox="1"/>
          <p:nvPr/>
        </p:nvSpPr>
        <p:spPr>
          <a:xfrm>
            <a:off x="306925" y="1767226"/>
            <a:ext cx="11535900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platform provides a centralized system that connects food donors, NGOs, volunteers, and administrators, making the redistribution process more organized.</a:t>
            </a: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Donors can add extra food details, while NGOs can view available donations and submit requests based on their requirements.</a:t>
            </a: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location-based matching helps identify nearby donors and volunteers, improving coordination and reducing unnecessary travel.</a:t>
            </a: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allows users and administrators to track donations, requests, volunteer assignments, and delivery status throughout the process.</a:t>
            </a: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proposed system makes food redistribution more efficient, reduces edible food wastage, and helps ensure available food reaches people in need.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244588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C162797E-207A-E6C3-9690-397B26C0A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g3be5054b97e_1_16">
            <a:extLst>
              <a:ext uri="{FF2B5EF4-FFF2-40B4-BE49-F238E27FC236}">
                <a16:creationId xmlns:a16="http://schemas.microsoft.com/office/drawing/2014/main" id="{F3FBE309-41F6-C8AE-0C36-47920847F6B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be5054b97e_1_16">
            <a:extLst>
              <a:ext uri="{FF2B5EF4-FFF2-40B4-BE49-F238E27FC236}">
                <a16:creationId xmlns:a16="http://schemas.microsoft.com/office/drawing/2014/main" id="{434BEA4D-F92E-0B88-11B5-00A74193A52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be5054b97e_1_16">
            <a:extLst>
              <a:ext uri="{FF2B5EF4-FFF2-40B4-BE49-F238E27FC236}">
                <a16:creationId xmlns:a16="http://schemas.microsoft.com/office/drawing/2014/main" id="{CAE7A133-DEFF-CD67-5D38-21D9BBAACD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9AD2632-0F84-84DA-9107-CCD4C79E9AF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27102"/>
          <a:stretch>
            <a:fillRect/>
          </a:stretch>
        </p:blipFill>
        <p:spPr>
          <a:xfrm>
            <a:off x="7339584" y="1767226"/>
            <a:ext cx="4683760" cy="3414374"/>
          </a:xfrm>
          <a:prstGeom prst="rect">
            <a:avLst/>
          </a:prstGeom>
        </p:spPr>
      </p:pic>
      <p:sp>
        <p:nvSpPr>
          <p:cNvPr id="3" name="Google Shape;213;g3be5054b97e_3_230">
            <a:extLst>
              <a:ext uri="{FF2B5EF4-FFF2-40B4-BE49-F238E27FC236}">
                <a16:creationId xmlns:a16="http://schemas.microsoft.com/office/drawing/2014/main" id="{06E0F377-951D-91F1-0B45-E8959621239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39145" y="322915"/>
            <a:ext cx="73617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5700" rIns="0" bIns="0" anchor="t" anchorCtr="0">
            <a:spAutoFit/>
          </a:bodyPr>
          <a:lstStyle/>
          <a:p>
            <a:pPr marL="235458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solidFill>
                  <a:schemeClr val="accent3"/>
                </a:solidFill>
              </a:rPr>
              <a:t>CONCLUSION</a:t>
            </a:r>
          </a:p>
        </p:txBody>
      </p:sp>
      <p:sp>
        <p:nvSpPr>
          <p:cNvPr id="5" name="Google Shape;216;g3be5054b97e_3_230">
            <a:extLst>
              <a:ext uri="{FF2B5EF4-FFF2-40B4-BE49-F238E27FC236}">
                <a16:creationId xmlns:a16="http://schemas.microsoft.com/office/drawing/2014/main" id="{81FE7173-1F35-1F2E-CCCA-33C0A3F615EC}"/>
              </a:ext>
            </a:extLst>
          </p:cNvPr>
          <p:cNvSpPr txBox="1">
            <a:spLocks/>
          </p:cNvSpPr>
          <p:nvPr/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810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7" name="Google Shape;217;g3be5054b97e_3_230">
            <a:extLst>
              <a:ext uri="{FF2B5EF4-FFF2-40B4-BE49-F238E27FC236}">
                <a16:creationId xmlns:a16="http://schemas.microsoft.com/office/drawing/2014/main" id="{53F9BEB2-8FAA-5EB8-A4C5-705CB9AFBC7C}"/>
              </a:ext>
            </a:extLst>
          </p:cNvPr>
          <p:cNvSpPr txBox="1"/>
          <p:nvPr/>
        </p:nvSpPr>
        <p:spPr>
          <a:xfrm>
            <a:off x="306925" y="1767226"/>
            <a:ext cx="7069235" cy="4708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proposed platform provides a centralized solution for managing and redistributing surplus food.</a:t>
            </a: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connects donors, NGOs, volunteers, and administrators through a single system.</a:t>
            </a: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Location-based matching helps improve the efficiency of food collection and delivery.</a:t>
            </a: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provides better tracking and coordination throughout the donation process.</a:t>
            </a: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Overall, the platform aims to reduce food wastage and support sustainable food redistribution.</a:t>
            </a: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824116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78315AC2-E06C-80C1-DD0E-607ABDDAD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g3be5054b97e_1_16">
            <a:extLst>
              <a:ext uri="{FF2B5EF4-FFF2-40B4-BE49-F238E27FC236}">
                <a16:creationId xmlns:a16="http://schemas.microsoft.com/office/drawing/2014/main" id="{F44378D6-F4C3-9336-08F7-9FAD580AE88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be5054b97e_1_16">
            <a:extLst>
              <a:ext uri="{FF2B5EF4-FFF2-40B4-BE49-F238E27FC236}">
                <a16:creationId xmlns:a16="http://schemas.microsoft.com/office/drawing/2014/main" id="{FCCDB375-1495-01CF-F04F-29E51D1BAA1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be5054b97e_1_16">
            <a:extLst>
              <a:ext uri="{FF2B5EF4-FFF2-40B4-BE49-F238E27FC236}">
                <a16:creationId xmlns:a16="http://schemas.microsoft.com/office/drawing/2014/main" id="{4C0F1D44-53D3-8FB2-B873-67A90C3AED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" name="Google Shape;213;g3be5054b97e_3_230">
            <a:extLst>
              <a:ext uri="{FF2B5EF4-FFF2-40B4-BE49-F238E27FC236}">
                <a16:creationId xmlns:a16="http://schemas.microsoft.com/office/drawing/2014/main" id="{33817193-BA32-D8B1-FE30-D3A9D15966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374905" y="356566"/>
            <a:ext cx="7361700" cy="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15700" rIns="0" bIns="0" anchor="t" anchorCtr="0">
            <a:spAutoFit/>
          </a:bodyPr>
          <a:lstStyle/>
          <a:p>
            <a:pPr marL="23545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>
                <a:solidFill>
                  <a:schemeClr val="accent3"/>
                </a:solidFill>
              </a:rPr>
              <a:t>REFERENCES</a:t>
            </a:r>
            <a:endParaRPr dirty="0">
              <a:solidFill>
                <a:schemeClr val="accent3"/>
              </a:solidFill>
            </a:endParaRPr>
          </a:p>
        </p:txBody>
      </p:sp>
      <p:sp>
        <p:nvSpPr>
          <p:cNvPr id="3" name="Google Shape;216;g3be5054b97e_3_230">
            <a:extLst>
              <a:ext uri="{FF2B5EF4-FFF2-40B4-BE49-F238E27FC236}">
                <a16:creationId xmlns:a16="http://schemas.microsoft.com/office/drawing/2014/main" id="{90920306-8C46-048D-EF25-C261AF113A11}"/>
              </a:ext>
            </a:extLst>
          </p:cNvPr>
          <p:cNvSpPr txBox="1">
            <a:spLocks/>
          </p:cNvSpPr>
          <p:nvPr/>
        </p:nvSpPr>
        <p:spPr>
          <a:xfrm>
            <a:off x="11304091" y="6486080"/>
            <a:ext cx="205104" cy="1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38100" marR="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38100" marR="0" lvl="1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38100" marR="0" lvl="2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38100" marR="0" lvl="3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8100" marR="0" lvl="4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8100" marR="0" lvl="5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8100" marR="0" lvl="6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8100" marR="0" lvl="7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38100" marR="0" lvl="8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Google Shape;217;g3be5054b97e_3_230">
            <a:extLst>
              <a:ext uri="{FF2B5EF4-FFF2-40B4-BE49-F238E27FC236}">
                <a16:creationId xmlns:a16="http://schemas.microsoft.com/office/drawing/2014/main" id="{A4B51398-D4E9-8984-F6E5-D92DC1162752}"/>
              </a:ext>
            </a:extLst>
          </p:cNvPr>
          <p:cNvSpPr txBox="1"/>
          <p:nvPr/>
        </p:nvSpPr>
        <p:spPr>
          <a:xfrm>
            <a:off x="306925" y="1696106"/>
            <a:ext cx="11535900" cy="494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R. Murthy, A. Atul, R. Sharma, A. Kaul, C. S. Nithya, and S. Himabindu, "Digital Stage for Surplus Food Redistribution: Undertaking Food Waste Through Online Donations," in </a:t>
            </a:r>
            <a:r>
              <a:rPr lang="en-US" sz="1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Proc. IEEE SPARC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2024.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 </a:t>
            </a:r>
            <a:r>
              <a:rPr lang="en-US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Agmapisarn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P. Seetha, and P. </a:t>
            </a:r>
            <a:r>
              <a:rPr lang="en-US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Fakfare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"Optimizing Surplus Food Redistribution: Leveraging Digital Platforms to Advance Sustainable Consumption," </a:t>
            </a:r>
            <a:r>
              <a:rPr lang="en-US" sz="1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Sustainable Development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33, 2025.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S. Bhardwaj, R. Markan, H. J. Kaur, S. Garg, and V. Kumari, "Designing a Location-Based Mobile Platform to Redirect Surplus Food from Households and Restaurants to the Needy," in </a:t>
            </a:r>
            <a:r>
              <a:rPr lang="en-US" sz="1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Proc. IEEE 5th Int. Conf. on ICT in Business, Industry and Government (ICTBIG)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2025.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A. Karanth, A. K. </a:t>
            </a:r>
            <a:r>
              <a:rPr lang="en-US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Hemareddy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C. G. T., G. N., and H. V. </a:t>
            </a:r>
            <a:r>
              <a:rPr lang="en-US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Magadum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"A Web-Based Food Donation and Redistribution Platform for Efficient Surplus Food Management," </a:t>
            </a:r>
            <a:r>
              <a:rPr lang="en-US" sz="1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International Journal of Computer Sciences and Engineering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13, no. 12, pp. 27–32, 2025.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AutoNum type="arabicPeriod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C. den Broeder, L. Lazer, N. </a:t>
            </a:r>
            <a:r>
              <a:rPr lang="en-US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Gisasola-Maiztegi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B. Ruggiero, </a:t>
            </a:r>
            <a:r>
              <a:rPr lang="en-US" sz="1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et al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., "Challenges, Coping Mechanisms, and Solutions in Food Redistribution Efforts at the City Level," </a:t>
            </a:r>
            <a:r>
              <a:rPr lang="en-US" sz="1800" i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Discover Sustainability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vol. 7, Art. no. 123, 2026.</a:t>
            </a:r>
            <a:endParaRPr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08462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74">
          <a:extLst>
            <a:ext uri="{FF2B5EF4-FFF2-40B4-BE49-F238E27FC236}">
              <a16:creationId xmlns:a16="http://schemas.microsoft.com/office/drawing/2014/main" id="{16F22D82-97AB-3C1D-900E-8179D10B0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g3be5054b97e_1_16">
            <a:extLst>
              <a:ext uri="{FF2B5EF4-FFF2-40B4-BE49-F238E27FC236}">
                <a16:creationId xmlns:a16="http://schemas.microsoft.com/office/drawing/2014/main" id="{E0EC1DDC-A92E-A252-8392-34906D4F00D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7352" y="191626"/>
            <a:ext cx="1135115" cy="1342882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g3be5054b97e_1_16">
            <a:extLst>
              <a:ext uri="{FF2B5EF4-FFF2-40B4-BE49-F238E27FC236}">
                <a16:creationId xmlns:a16="http://schemas.microsoft.com/office/drawing/2014/main" id="{C8AF73DC-40C8-F8CC-AC28-F0AE43417BB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14231" y="191626"/>
            <a:ext cx="1520112" cy="1342882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g3be5054b97e_1_16">
            <a:extLst>
              <a:ext uri="{FF2B5EF4-FFF2-40B4-BE49-F238E27FC236}">
                <a16:creationId xmlns:a16="http://schemas.microsoft.com/office/drawing/2014/main" id="{58444D92-795E-7553-9EAE-438E6B5405C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304091" y="6486080"/>
            <a:ext cx="205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38100" lvl="0" indent="0" algn="l" rtl="0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3" name="Google Shape;225;g3be5054b97e_3_240">
            <a:extLst>
              <a:ext uri="{FF2B5EF4-FFF2-40B4-BE49-F238E27FC236}">
                <a16:creationId xmlns:a16="http://schemas.microsoft.com/office/drawing/2014/main" id="{63E8E396-F025-EC70-9F32-E26F4EC70F85}"/>
              </a:ext>
            </a:extLst>
          </p:cNvPr>
          <p:cNvSpPr/>
          <p:nvPr/>
        </p:nvSpPr>
        <p:spPr>
          <a:xfrm>
            <a:off x="2476500" y="2828835"/>
            <a:ext cx="7239000" cy="12003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5400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83332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1324</Words>
  <Application>Microsoft Office PowerPoint</Application>
  <PresentationFormat>Widescreen</PresentationFormat>
  <Paragraphs>145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Office Theme</vt:lpstr>
      <vt:lpstr>Office Theme</vt:lpstr>
      <vt:lpstr>Intelligent Food Redistribution and Waste Reduction Network </vt:lpstr>
      <vt:lpstr>ABSTRACT</vt:lpstr>
      <vt:lpstr>INTRODUCTION</vt:lpstr>
      <vt:lpstr>OBJECTIVES</vt:lpstr>
      <vt:lpstr>LITERATURE SURVEY</vt:lpstr>
      <vt:lpstr>PROBLEM STATEMENT</vt:lpstr>
      <vt:lpstr>SYSTEM ARCHITECTURE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 &amp; DISCUSSION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Food Redistribution and Waste Reduction Network </dc:title>
  <dc:creator>Rohan V</dc:creator>
  <cp:lastModifiedBy>gkvyshnavi9@gmail.com</cp:lastModifiedBy>
  <cp:revision>29</cp:revision>
  <dcterms:created xsi:type="dcterms:W3CDTF">2025-11-14T08:39:07Z</dcterms:created>
  <dcterms:modified xsi:type="dcterms:W3CDTF">2026-09-04T03:57:39Z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2025-11-14T00:00:00Z</vt:filetime>
  </property>
  <property fmtid="{D5CDD505-2E9C-101B-9397-08002B2CF9AE}" pid="3" name="Creator">
    <vt:lpwstr>Google</vt:lpwstr>
  </property>
  <property fmtid="{D5CDD505-2E9C-101B-9397-08002B2CF9AE}" pid="4" name="LastSaved">
    <vt:filetime>2025-11-14T00:00:00Z</vt:filetime>
  </property>
</Properties>
</file>